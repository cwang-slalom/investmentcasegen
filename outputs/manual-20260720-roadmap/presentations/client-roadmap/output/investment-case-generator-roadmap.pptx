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331367f58044a5" /><Relationship Type="http://schemas.openxmlformats.org/officeDocument/2006/relationships/extended-properties" Target="/docProps/app.xml" Id="R5ddc1bd3924b4115" /><Relationship Type="http://schemas.openxmlformats.org/officeDocument/2006/relationships/officeDocument" Target="/ppt/presentation.xml" Id="R81f16add389842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0c54372f8d4fdb"/>
  </p:sldMasterIdLst>
  <p:notesMasterIdLst>
    <p:notesMasterId xmlns:r="http://schemas.openxmlformats.org/officeDocument/2006/relationships" r:id="Rdb2a94f8c4ff4311"/>
  </p:notesMasterIdLst>
  <p:sldIdLst>
    <p:sldId xmlns:r="http://schemas.openxmlformats.org/officeDocument/2006/relationships" id="256" r:id="Rfd2d3dcb41d2486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5c3fa085a84f4a" /><Relationship Type="http://schemas.openxmlformats.org/officeDocument/2006/relationships/slideMaster" Target="/ppt/slideMasters/slideMaster1.xml" Id="R750c54372f8d4fdb" /><Relationship Type="http://schemas.openxmlformats.org/officeDocument/2006/relationships/notesMaster" Target="/ppt/notesMasters/notesMaster1.xml" Id="Rdb2a94f8c4ff4311" /><Relationship Type="http://schemas.openxmlformats.org/officeDocument/2006/relationships/presProps" Target="/ppt/presProps.xml" Id="R83800451e2a84827" /><Relationship Type="http://schemas.openxmlformats.org/officeDocument/2006/relationships/viewProps" Target="/ppt/viewProps.xml" Id="Ra191601f57ec477c" /><Relationship Type="http://schemas.openxmlformats.org/officeDocument/2006/relationships/tableStyles" Target="/ppt/tableStyles.xml" Id="R3db40fc3c2974b10" /><Relationship Type="http://schemas.openxmlformats.org/officeDocument/2006/relationships/slide" Target="/ppt/slides/slide1.xml" Id="Rfd2d3dcb41d248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886abc6ab048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ac753dad714033" /><Relationship Type="http://schemas.openxmlformats.org/officeDocument/2006/relationships/notesMaster" Target="/ppt/notesMasters/notesMaster1.xml" Id="R4d8f3f98e1904a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423c921ea24d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2d0aa80f69498d" /><Relationship Type="http://schemas.openxmlformats.org/officeDocument/2006/relationships/slideLayout" Target="/ppt/slideLayouts/slideLayout1.xml" Id="R6d0f7d5b69db41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0f7d5b69db41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228abbc5f4d1d" /><Relationship Type="http://schemas.openxmlformats.org/officeDocument/2006/relationships/notesSlide" Target="/ppt/notesSlides/notesSlide1.xml" Id="Rf2c8a24667e842a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AE8224-1ADC-4152-8907-5C7DAA25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BE2F7-6E40-4E31-AE77-B7E7E70C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7334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Investment Case Generator MVP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2605C1-E59D-4294-A182-0FD74F9A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8191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A"/>
                </a:solidFill>
                <a:latin typeface="Aptos"/>
                <a:ea typeface="Aptos"/>
                <a:cs typeface="Aptos"/>
              </a:rPr>
              <a:t>10-week client plan | concept-first, source-grounded delivery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272DA6-7CE1-495F-91BB-A814FA17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1924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B7D0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13541-B2AE-4C52-AA2B-EF1534A4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5775"/>
            <a:ext cx="16573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7F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7F7A"/>
                </a:solidFill>
                <a:latin typeface="Aptos"/>
                <a:ea typeface="Aptos"/>
                <a:cs typeface="Aptos"/>
              </a:rPr>
              <a:t>MVP demo: Oct 30,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CEC06-6E32-4F45-AF51-A4AB2D1C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06489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6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1B600D-1133-4516-86A7-474F1791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33525"/>
            <a:ext cx="2524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B7A"/>
                </a:solidFill>
                <a:latin typeface="Aptos"/>
                <a:ea typeface="Aptos"/>
                <a:cs typeface="Aptos"/>
              </a:rPr>
              <a:t>Milestone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8A4B8-7DFD-4451-9AF5-EBFFA7CC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809750"/>
            <a:ext cx="9525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C315C-E87E-496E-9806-94F411A6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240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E6B7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B7A"/>
                </a:solidFill>
                <a:latin typeface="Aptos"/>
                <a:ea typeface="Aptos"/>
                <a:cs typeface="Aptos"/>
              </a:rPr>
              <a:t>Jul 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71E056-6EFC-4B5F-AED8-6F59E724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1180" y="1809750"/>
            <a:ext cx="9525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F00B4B-CACB-49EE-A78D-7235D9D8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786" y="1809750"/>
            <a:ext cx="9525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D0CDD9-EA6E-458B-8F6F-9F1D06DA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111" y="15240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E6B7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B7A"/>
                </a:solidFill>
                <a:latin typeface="Aptos"/>
                <a:ea typeface="Aptos"/>
                <a:cs typeface="Aptos"/>
              </a:rPr>
              <a:t>Aug 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4CD0C1-7994-4603-8935-F7BA9B1C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8391" y="1809750"/>
            <a:ext cx="9525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E3FAF2-B765-4672-B43C-66937562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996" y="1809750"/>
            <a:ext cx="9525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5862F7-16C7-40D5-987E-61DFCC73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5321" y="15240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E6B7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B7A"/>
                </a:solidFill>
                <a:latin typeface="Aptos"/>
                <a:ea typeface="Aptos"/>
                <a:cs typeface="Aptos"/>
              </a:rPr>
              <a:t>Aug 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96D715-618C-43DD-9C09-C044BBEF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602" y="1809750"/>
            <a:ext cx="9525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034996-7106-4CF2-9053-9FD8925B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207" y="1809750"/>
            <a:ext cx="9525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DDB52D-749D-404A-B483-56BDF2F1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2532" y="15240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E6B7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B7A"/>
                </a:solidFill>
                <a:latin typeface="Aptos"/>
                <a:ea typeface="Aptos"/>
                <a:cs typeface="Aptos"/>
              </a:rPr>
              <a:t>Sep 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550D48-57FC-4DC2-A379-32015E38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2813" y="1809750"/>
            <a:ext cx="9525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0A3DB4-C293-4322-ACC9-98FD1023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6418" y="1809750"/>
            <a:ext cx="9525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A3E153-3CFC-409B-AF11-15021D32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9743" y="15240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E6B7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B7A"/>
                </a:solidFill>
                <a:latin typeface="Aptos"/>
                <a:ea typeface="Aptos"/>
                <a:cs typeface="Aptos"/>
              </a:rPr>
              <a:t>Sep 21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7074A-4F31-4971-B8A1-B257B788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023" y="1809750"/>
            <a:ext cx="9525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0A9E58-078D-4C20-B886-8D7E671F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629" y="1809750"/>
            <a:ext cx="9525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172121-7992-424C-8B24-221D290F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6954" y="15240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E6B7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B7A"/>
                </a:solidFill>
                <a:latin typeface="Aptos"/>
                <a:ea typeface="Aptos"/>
                <a:cs typeface="Aptos"/>
              </a:rPr>
              <a:t>Oct 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63923A-C78B-4025-88A9-B8F01C00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234" y="1809750"/>
            <a:ext cx="9525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F20D34-9E63-4A86-B69C-45EFF198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0839" y="1809750"/>
            <a:ext cx="9525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6AE9CC-6F97-4A70-A5DD-970DA6CF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4164" y="15240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E6B7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B7A"/>
                </a:solidFill>
                <a:latin typeface="Aptos"/>
                <a:ea typeface="Aptos"/>
                <a:cs typeface="Aptos"/>
              </a:rPr>
              <a:t>Oct 19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BF9689-8313-482A-9D89-5C916B5B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4445" y="1809750"/>
            <a:ext cx="9525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ECB725-832E-4EE4-B5FE-7918F4A7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1030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E26426-E2AC-4F01-811F-9D4330EA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F7A"/>
          </a:solidFill>
          <a:ln xmlns:a="http://schemas.openxmlformats.org/drawingml/2006/main" w="0">
            <a:solidFill>
              <a:srgbClr val="1D7F7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D0AAE1-30B8-490E-BE2A-564BA636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05025"/>
            <a:ext cx="238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8AF415-1AF1-437E-BBC4-0D38EA3E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3835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Product Alignment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5E6180-CF04-4892-A34C-07FABDC2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19325"/>
            <a:ext cx="17716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B7A"/>
                </a:solidFill>
                <a:latin typeface="Aptos"/>
                <a:ea typeface="Aptos"/>
                <a:cs typeface="Aptos"/>
              </a:rPr>
              <a:t>Jul 27-Aug 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78E376-BB97-4150-8B34-461DF023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95500"/>
            <a:ext cx="1011011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F7A"/>
          </a:solidFill>
          <a:ln xmlns:a="http://schemas.openxmlformats.org/drawingml/2006/main" w="0">
            <a:solidFill>
              <a:srgbClr val="1D7F7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3B4AC9-883A-4C0E-B835-9BF0040E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33600"/>
            <a:ext cx="820511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Product Alignment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65CB64-1C25-4EFA-86DE-184105F9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90775"/>
            <a:ext cx="1030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E07EA8-1D2D-421B-BB9B-D1EA9851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6EA5"/>
          </a:solidFill>
          <a:ln xmlns:a="http://schemas.openxmlformats.org/drawingml/2006/main" w="0">
            <a:solidFill>
              <a:srgbClr val="3A6EA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25FA52-38AC-41A4-A8E9-AE285193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95550"/>
            <a:ext cx="238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9A34CD-5D57-4F23-A02C-03E85687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28875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Document Intake + Discovery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957114-76D1-4000-A170-7BAF5167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09850"/>
            <a:ext cx="17716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B7A"/>
                </a:solidFill>
                <a:latin typeface="Aptos"/>
                <a:ea typeface="Aptos"/>
                <a:cs typeface="Aptos"/>
              </a:rPr>
              <a:t>Aug 10-Aug 21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F272AA-95FB-4D4C-B029-14059075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836" y="2486025"/>
            <a:ext cx="1011011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6EA5"/>
          </a:solidFill>
          <a:ln xmlns:a="http://schemas.openxmlformats.org/drawingml/2006/main" w="0">
            <a:solidFill>
              <a:srgbClr val="3A6EA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30F62B-9397-4CB3-B388-EBA5C1B9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086" y="2524125"/>
            <a:ext cx="820511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Intake + Discovery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AF08E7-E11C-4C2B-BE41-A7503174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030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3E3999-623F-4DF6-95C3-B34E3EE9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A5A"/>
          </a:solidFill>
          <a:ln xmlns:a="http://schemas.openxmlformats.org/drawingml/2006/main" w="0">
            <a:solidFill>
              <a:srgbClr val="4C8A5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F60DD34-98B7-491B-83C9-D24D1C52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86075"/>
            <a:ext cx="238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986CFD-0D7E-42B8-829A-2F039F24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Evidence Model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9617FE-04A0-437C-9DC1-7516A66D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00375"/>
            <a:ext cx="17716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B7A"/>
                </a:solidFill>
                <a:latin typeface="Aptos"/>
                <a:ea typeface="Aptos"/>
                <a:cs typeface="Aptos"/>
              </a:rPr>
              <a:t>Aug 24-Sep 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953B8B-93E2-4E96-A158-39C2A8CB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46" y="2876550"/>
            <a:ext cx="1011011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A5A"/>
          </a:solidFill>
          <a:ln xmlns:a="http://schemas.openxmlformats.org/drawingml/2006/main" w="0">
            <a:solidFill>
              <a:srgbClr val="4C8A5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9AF531E-A302-48F3-A276-A2750192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296" y="2914650"/>
            <a:ext cx="820511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 Model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301E1EE-535C-4B19-B6E7-B3445895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1030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24D1263-9236-41C1-90AC-9E11A45F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48025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52D"/>
          </a:solidFill>
          <a:ln xmlns:a="http://schemas.openxmlformats.org/drawingml/2006/main" w="0">
            <a:solidFill>
              <a:srgbClr val="C8952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F976958-7F5D-494C-8DC7-BF18E3E8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238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052C868-135B-4A84-8ECB-7C2569A6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09925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Narrative Generation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B3CE270-F32A-4822-8CF6-9F171146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90900"/>
            <a:ext cx="17716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B7A"/>
                </a:solidFill>
                <a:latin typeface="Aptos"/>
                <a:ea typeface="Aptos"/>
                <a:cs typeface="Aptos"/>
              </a:rPr>
              <a:t>Sep 7-Sep 18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C96F40B-ED22-433F-B006-7C215CC4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257" y="3267075"/>
            <a:ext cx="1011011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52D"/>
          </a:solidFill>
          <a:ln xmlns:a="http://schemas.openxmlformats.org/drawingml/2006/main" w="0">
            <a:solidFill>
              <a:srgbClr val="C8952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5BD917A-1389-4D54-8277-7B90CA8A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3507" y="3305175"/>
            <a:ext cx="820511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Narrative Generation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5F1D032-C0A9-4CE9-99A7-D18ADB47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1030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2DFA3A1-DDE8-4F07-A545-7FAB80FE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AAE"/>
          </a:solidFill>
          <a:ln xmlns:a="http://schemas.openxmlformats.org/drawingml/2006/main" w="0">
            <a:solidFill>
              <a:srgbClr val="7C6AA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DABE246-E0B4-4108-AC8C-36F6F463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67125"/>
            <a:ext cx="238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C3AFD5D-0F38-41DA-AC3E-F0E07491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0045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Review + Export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5FF5E08-8821-492D-8BB1-A2BA87FD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81425"/>
            <a:ext cx="17716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B7A"/>
                </a:solidFill>
                <a:latin typeface="Aptos"/>
                <a:ea typeface="Aptos"/>
                <a:cs typeface="Aptos"/>
              </a:rPr>
              <a:t>Sep 21-Oct 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3B70092-B73D-44F3-A930-C7C7411B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468" y="3657600"/>
            <a:ext cx="1011011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AAE"/>
          </a:solidFill>
          <a:ln xmlns:a="http://schemas.openxmlformats.org/drawingml/2006/main" w="0">
            <a:solidFill>
              <a:srgbClr val="7C6AA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47F8466-0B07-4EAF-BCDA-C171028B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718" y="3695700"/>
            <a:ext cx="820511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Review + Export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7FDA0E4-ABB5-4086-8606-0B7F9C37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30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75DC708-A1C0-498E-96C3-18D228BF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29075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042"/>
          </a:solidFill>
          <a:ln xmlns:a="http://schemas.openxmlformats.org/drawingml/2006/main" w="0">
            <a:solidFill>
              <a:srgbClr val="B85042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5C146FC-6C03-4A57-9285-6949688C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238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9289C63-9EE8-4766-BBC4-B8CB6AE7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90975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Guardrails + Validation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8573219-B399-47AD-B527-93384B9F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71950"/>
            <a:ext cx="17716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B7A"/>
                </a:solidFill>
                <a:latin typeface="Aptos"/>
                <a:ea typeface="Aptos"/>
                <a:cs typeface="Aptos"/>
              </a:rPr>
              <a:t>Oct 5-Oct 16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676E9AC-FECC-40E5-BADF-BB540A06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679" y="4048125"/>
            <a:ext cx="1011011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042"/>
          </a:solidFill>
          <a:ln xmlns:a="http://schemas.openxmlformats.org/drawingml/2006/main" w="0">
            <a:solidFill>
              <a:srgbClr val="B85042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8A70BA6-19B8-46C0-B320-FB70993B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7929" y="4086225"/>
            <a:ext cx="820511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Guardrails + Validation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9124292-8B32-40A9-8F02-213EA046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1030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2C1C3E2-9485-4E7A-B000-DD902044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F7A"/>
          </a:solidFill>
          <a:ln xmlns:a="http://schemas.openxmlformats.org/drawingml/2006/main" w="0">
            <a:solidFill>
              <a:srgbClr val="1D7F7A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D007FBD-984A-4293-A3BC-FE667EFD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48175"/>
            <a:ext cx="238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8C0961A-1390-4432-9071-95F90599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Pilot Demo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14627FF-E8D5-4417-A8AA-112D4FC5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62475"/>
            <a:ext cx="17716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B7A"/>
                </a:solidFill>
                <a:latin typeface="Aptos"/>
                <a:ea typeface="Aptos"/>
                <a:cs typeface="Aptos"/>
              </a:rPr>
              <a:t>Oct 19-Oct 30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67EDD82-D0EC-4295-BE1E-DACA4EA6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9889" y="4438650"/>
            <a:ext cx="1011011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F7A"/>
          </a:solidFill>
          <a:ln xmlns:a="http://schemas.openxmlformats.org/drawingml/2006/main" w="0">
            <a:solidFill>
              <a:srgbClr val="1D7F7A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D9C1A2B-1DDE-4AD6-A9B8-9827BC9E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5139" y="4476750"/>
            <a:ext cx="820511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Pilot Demo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17F5BEE-74F4-45EE-8390-1A7DF419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5143500"/>
            <a:ext cx="1020536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D7F7A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126D692-50F2-41DC-8B8F-B941DE28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5143500"/>
            <a:ext cx="47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F7A"/>
          </a:solidFill>
          <a:ln xmlns:a="http://schemas.openxmlformats.org/drawingml/2006/main" w="0">
            <a:solidFill>
              <a:srgbClr val="1D7F7A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2E5C0C5-628E-4618-8441-074E0024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219700"/>
            <a:ext cx="86813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Discovery &amp; Alignment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CE2FAA2-FD02-48E0-BCB6-E869ED32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786" y="5143500"/>
            <a:ext cx="4282168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A6EA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FA10562-80CB-4FBC-847C-01E67C07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786" y="5143500"/>
            <a:ext cx="47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6EA5"/>
          </a:solidFill>
          <a:ln xmlns:a="http://schemas.openxmlformats.org/drawingml/2006/main" w="0">
            <a:solidFill>
              <a:srgbClr val="3A6EA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31BC79A-D916-4774-A746-CF48B98F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086" y="5219700"/>
            <a:ext cx="412976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MVP Build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6D31122-A1C7-4941-87F5-71ED04FC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629" y="5143500"/>
            <a:ext cx="2107746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C8A5A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A0DB77A-C117-4E24-A537-6A9F550D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629" y="5143500"/>
            <a:ext cx="47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A5A"/>
          </a:solidFill>
          <a:ln xmlns:a="http://schemas.openxmlformats.org/drawingml/2006/main" w="0">
            <a:solidFill>
              <a:srgbClr val="4C8A5A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C72C1B8-C869-42BE-9A71-FF4B12B8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7929" y="5219700"/>
            <a:ext cx="195534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Validation &amp; Pilot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B371262-6AA6-409E-8A5C-1A494390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676" y="546735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952D"/>
            </a:solidFill>
            <a:prstDash val="dash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1252412-F194-4891-8F2F-5B8EC8EF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976" y="5514975"/>
            <a:ext cx="1638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Nov 2-Nov 20: pilot refinement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FC3BC7C-8557-480C-B529-46D6F829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648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CF7"/>
          </a:solidFill>
          <a:ln xmlns:a="http://schemas.openxmlformats.org/drawingml/2006/main" w="9525">
            <a:solidFill>
              <a:srgbClr val="E4D3A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FA3340F-03C7-4F13-AD65-575573D2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57875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95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952D"/>
                </a:solidFill>
                <a:latin typeface="Aptos"/>
                <a:ea typeface="Aptos"/>
                <a:cs typeface="Aptos"/>
              </a:rPr>
              <a:t>Client decision points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BFEE0EE-FE8A-4604-AF12-997C315B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829300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Document types in scope | review and approval owner | priority output format | evidence threshold for client-ready drafts | unresolved funding recipient or investment vehicle fields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B137A67-F9F6-48CC-AA3E-66FF9614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09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E6B7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B7A"/>
                </a:solidFill>
                <a:latin typeface="Aptos"/>
                <a:ea typeface="Aptos"/>
                <a:cs typeface="Aptos"/>
              </a:rPr>
              <a:t>Roadmap assumes kickoff on July 27, 2026. Generated investment cases remain draft materials requiring human review; unsupported impact, cost, partner, timeline, and funding claims stay unresolved.</a:t>
            </a:r>
          </a:p>
        </p:txBody>
      </p:sp>
    </p:spTree>
    <p:extLst>
      <p:ext uri="{BB962C8B-B14F-4D97-AF65-F5344CB8AC3E}">
        <p14:creationId xmlns:p14="http://schemas.microsoft.com/office/powerpoint/2010/main" val="6721011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2026-07-20T21:30:13.7150000Z</dcterms:created>
  <dcterms:modified xsi:type="dcterms:W3CDTF">2026-07-20T21:30:13.7150000Z</dcterms:modified>
</coreProperties>
</file>